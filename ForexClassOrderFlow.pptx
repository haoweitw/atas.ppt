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66" r:id="rId2"/>
    <p:sldId id="275" r:id="rId3"/>
    <p:sldId id="279" r:id="rId4"/>
    <p:sldId id="261" r:id="rId5"/>
    <p:sldId id="262" r:id="rId6"/>
    <p:sldId id="263" r:id="rId7"/>
    <p:sldId id="264" r:id="rId8"/>
    <p:sldId id="259" r:id="rId9"/>
    <p:sldId id="260" r:id="rId10"/>
    <p:sldId id="265" r:id="rId11"/>
    <p:sldId id="273" r:id="rId12"/>
    <p:sldId id="269" r:id="rId13"/>
    <p:sldId id="271" r:id="rId14"/>
    <p:sldId id="272" r:id="rId15"/>
    <p:sldId id="267" r:id="rId16"/>
    <p:sldId id="268" r:id="rId17"/>
    <p:sldId id="277" r:id="rId18"/>
    <p:sldId id="278" r:id="rId19"/>
    <p:sldId id="276" r:id="rId20"/>
    <p:sldId id="281" r:id="rId21"/>
    <p:sldId id="280" r:id="rId22"/>
    <p:sldId id="282" r:id="rId23"/>
    <p:sldId id="28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21CE3-246F-4777-AB01-78BFAED0237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AA2C8-5EB0-4F7F-9DCB-AF1BC769F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2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16F3-B8C6-4C03-82CB-0DE7EA1A96AB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AFA2-A836-45B5-B034-C76C3CFFE907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7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1B8B-8935-4DFA-AAA2-C7EA025005A8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8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5AEB-6391-4734-AAB9-EEC57D2E637D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4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BA5-1C3C-4ADD-9D06-B11AF84FE7F4}" type="datetime1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0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1172-8F01-432B-9E7A-42854166F4D5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8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E30A-1C30-4BA8-8950-DD90978AE0E1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1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F2F4-7762-46E1-BCB8-5B7C29E12A8D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3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2360-1B5A-430B-9F4D-2622E827CD19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4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F07AD-16E6-4A20-AB51-F4E4E8EBFAB5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9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B2074-5FC3-425B-8FF2-240A31710707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2D5-2EB3-419C-B076-36311C435421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8842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DD390-17B5-44D7-A319-F36E0CE94D3D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80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C59E-3153-469F-9EAC-7CD35D7BC94A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1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5E8E-87A3-47A6-9FC7-CDC126A374E4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51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A18-1609-4668-9159-9AB311BE535B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34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4B43-2BC4-4ED7-B5F3-D7B06ED46263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3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595B20-5F61-4AEA-B2CC-9E1AC4D94CCD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2404C-1BFF-4D0E-818D-D25D223DB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50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et.dxfeed.com/orders/new/ata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atas.net/atas-download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F12068-7642-99D1-0B63-0FBC6EFC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21686"/>
            <a:ext cx="8825658" cy="3329581"/>
          </a:xfrm>
        </p:spPr>
        <p:txBody>
          <a:bodyPr/>
          <a:lstStyle/>
          <a:p>
            <a:pPr algn="ctr"/>
            <a:r>
              <a:rPr lang="zh-TW" altLang="en-US" sz="9600" dirty="0">
                <a:solidFill>
                  <a:srgbClr val="FFC000"/>
                </a:solidFill>
              </a:rPr>
              <a:t>黃金</a:t>
            </a:r>
            <a:br>
              <a:rPr lang="en-US" altLang="zh-TW" sz="9600" dirty="0">
                <a:solidFill>
                  <a:srgbClr val="FFC000"/>
                </a:solidFill>
              </a:rPr>
            </a:br>
            <a:r>
              <a:rPr lang="zh-TW" altLang="en-US" sz="9600" dirty="0">
                <a:solidFill>
                  <a:srgbClr val="FFFF00"/>
                </a:solidFill>
              </a:rPr>
              <a:t>訂單流</a:t>
            </a:r>
            <a:r>
              <a:rPr lang="zh-TW" altLang="en-US" sz="9600" dirty="0"/>
              <a:t>分析</a:t>
            </a:r>
            <a:endParaRPr lang="en-US" sz="9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4FA180-8B47-4AFA-62A1-F884A93F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526-F94A-47F9-956E-1B7CD59EDC2A}" type="slidenum">
              <a:rPr lang="en-US" smtClean="0"/>
              <a:t>1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BAD8C58-D122-9DB4-C0FB-FFAEB168B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" y="4905756"/>
            <a:ext cx="1590675" cy="16002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20352EB-5919-E674-7CF6-BCB695E04F92}"/>
              </a:ext>
            </a:extLst>
          </p:cNvPr>
          <p:cNvSpPr/>
          <p:nvPr/>
        </p:nvSpPr>
        <p:spPr>
          <a:xfrm>
            <a:off x="0" y="6495399"/>
            <a:ext cx="15994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+mn-ea"/>
                <a:sym typeface="+mn-lt"/>
              </a:rPr>
              <a:t>李晧暐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副標題 7">
            <a:extLst>
              <a:ext uri="{FF2B5EF4-FFF2-40B4-BE49-F238E27FC236}">
                <a16:creationId xmlns:a16="http://schemas.microsoft.com/office/drawing/2014/main" id="{38D8A238-C045-7E5F-880D-1C0D51DE3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0614" y="4905756"/>
            <a:ext cx="8825658" cy="1087355"/>
          </a:xfrm>
        </p:spPr>
        <p:txBody>
          <a:bodyPr>
            <a:normAutofit/>
          </a:bodyPr>
          <a:lstStyle/>
          <a:p>
            <a:pPr algn="ctr"/>
            <a:r>
              <a:rPr lang="en-US" altLang="zh-TW" sz="2800" dirty="0">
                <a:solidFill>
                  <a:schemeClr val="tx1">
                    <a:lumMod val="85000"/>
                  </a:schemeClr>
                </a:solidFill>
              </a:rPr>
              <a:t>ATAS</a:t>
            </a:r>
            <a:r>
              <a:rPr lang="zh-TW" altLang="en-US" sz="2800" dirty="0">
                <a:solidFill>
                  <a:schemeClr val="tx1">
                    <a:lumMod val="85000"/>
                  </a:schemeClr>
                </a:solidFill>
              </a:rPr>
              <a:t>軟體</a:t>
            </a:r>
            <a:endParaRPr lang="en-US" altLang="zh-TW" sz="2800" dirty="0">
              <a:solidFill>
                <a:schemeClr val="tx1">
                  <a:lumMod val="85000"/>
                </a:schemeClr>
              </a:solidFill>
            </a:endParaRPr>
          </a:p>
          <a:p>
            <a:pPr algn="ctr"/>
            <a:r>
              <a:rPr lang="zh-TW" altLang="en-US" sz="2800" dirty="0">
                <a:solidFill>
                  <a:schemeClr val="tx1">
                    <a:lumMod val="85000"/>
                  </a:schemeClr>
                </a:solidFill>
              </a:rPr>
              <a:t>使用經驗分享</a:t>
            </a:r>
            <a:endParaRPr lang="en-US" sz="28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275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98749D-0B79-944D-19BB-1B80098C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2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D5B185F-B5FB-A47D-E10A-BCD2F1A9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0020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3831600-0435-E15E-8C46-5E07940D0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58752"/>
            <a:ext cx="12192000" cy="1499248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556DA21-DA79-D5D7-F12E-263555C63832}"/>
              </a:ext>
            </a:extLst>
          </p:cNvPr>
          <p:cNvSpPr txBox="1"/>
          <p:nvPr/>
        </p:nvSpPr>
        <p:spPr>
          <a:xfrm>
            <a:off x="5439410" y="4295808"/>
            <a:ext cx="1313180" cy="76944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4400" dirty="0">
                <a:solidFill>
                  <a:srgbClr val="FFFF00"/>
                </a:solidFill>
              </a:rPr>
              <a:t>DTCC</a:t>
            </a:r>
            <a:endParaRPr lang="en-US" sz="5400" dirty="0">
              <a:solidFill>
                <a:srgbClr val="FFFF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2E85EA3-AC48-9CC8-F2CD-0330A7D80BB4}"/>
              </a:ext>
            </a:extLst>
          </p:cNvPr>
          <p:cNvSpPr txBox="1"/>
          <p:nvPr/>
        </p:nvSpPr>
        <p:spPr>
          <a:xfrm>
            <a:off x="8763680" y="1230659"/>
            <a:ext cx="2723823" cy="76944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4400" dirty="0">
                <a:solidFill>
                  <a:srgbClr val="FFFF00"/>
                </a:solidFill>
              </a:rPr>
              <a:t>Commodity</a:t>
            </a:r>
            <a:endParaRPr lang="en-US" sz="5400" dirty="0">
              <a:solidFill>
                <a:srgbClr val="FFFF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89381F-2CE5-BC06-5206-5931250FE551}"/>
              </a:ext>
            </a:extLst>
          </p:cNvPr>
          <p:cNvSpPr txBox="1"/>
          <p:nvPr/>
        </p:nvSpPr>
        <p:spPr>
          <a:xfrm>
            <a:off x="9176330" y="5792830"/>
            <a:ext cx="1595309" cy="76944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4400" dirty="0">
                <a:solidFill>
                  <a:srgbClr val="FFFF00"/>
                </a:solidFill>
              </a:rPr>
              <a:t>Forex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13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2A55DC-274E-E5F8-4EEF-4066F71C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3</a:t>
            </a:fld>
            <a:endParaRPr lang="en-US"/>
          </a:p>
        </p:txBody>
      </p:sp>
      <p:pic>
        <p:nvPicPr>
          <p:cNvPr id="10" name="圖片 9">
            <a:hlinkClick r:id="rId2"/>
            <a:extLst>
              <a:ext uri="{FF2B5EF4-FFF2-40B4-BE49-F238E27FC236}">
                <a16:creationId xmlns:a16="http://schemas.microsoft.com/office/drawing/2014/main" id="{52743C48-2023-99A9-D541-51C87667E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415" y="0"/>
            <a:ext cx="5401585" cy="6858000"/>
          </a:xfrm>
          <a:prstGeom prst="rect">
            <a:avLst/>
          </a:prstGeom>
        </p:spPr>
      </p:pic>
      <p:pic>
        <p:nvPicPr>
          <p:cNvPr id="12" name="圖片 11">
            <a:hlinkClick r:id="rId4"/>
            <a:extLst>
              <a:ext uri="{FF2B5EF4-FFF2-40B4-BE49-F238E27FC236}">
                <a16:creationId xmlns:a16="http://schemas.microsoft.com/office/drawing/2014/main" id="{BEDA7AD6-C4B9-F464-3D0E-C8653EA42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0"/>
            <a:ext cx="6790414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ABC831F-145D-6671-63A6-020B2B116D60}"/>
              </a:ext>
            </a:extLst>
          </p:cNvPr>
          <p:cNvSpPr/>
          <p:nvPr/>
        </p:nvSpPr>
        <p:spPr>
          <a:xfrm>
            <a:off x="7050730" y="2289818"/>
            <a:ext cx="4140009" cy="52494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78C589-9AEA-7C11-F246-8E8305446454}"/>
              </a:ext>
            </a:extLst>
          </p:cNvPr>
          <p:cNvSpPr/>
          <p:nvPr/>
        </p:nvSpPr>
        <p:spPr>
          <a:xfrm>
            <a:off x="7107714" y="6400800"/>
            <a:ext cx="4803340" cy="4572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484112E-7A99-5394-9494-08D0AE798642}"/>
              </a:ext>
            </a:extLst>
          </p:cNvPr>
          <p:cNvSpPr txBox="1"/>
          <p:nvPr/>
        </p:nvSpPr>
        <p:spPr>
          <a:xfrm>
            <a:off x="88182" y="4839286"/>
            <a:ext cx="4416594" cy="144655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4400" dirty="0">
                <a:solidFill>
                  <a:srgbClr val="FFFF00"/>
                </a:solidFill>
              </a:rPr>
              <a:t>裝好後 可選版本</a:t>
            </a:r>
            <a:endParaRPr lang="en-US" altLang="zh-TW" sz="4400" dirty="0">
              <a:solidFill>
                <a:srgbClr val="FFFF00"/>
              </a:solidFill>
            </a:endParaRPr>
          </a:p>
          <a:p>
            <a:r>
              <a:rPr lang="en-US" altLang="zh-TW" sz="4400" dirty="0">
                <a:solidFill>
                  <a:srgbClr val="FFFF00"/>
                </a:solidFill>
              </a:rPr>
              <a:t>Latest </a:t>
            </a:r>
            <a:r>
              <a:rPr lang="en-US" altLang="zh-TW" sz="4400" strike="sngStrike" dirty="0">
                <a:solidFill>
                  <a:srgbClr val="FFFF00"/>
                </a:solidFill>
              </a:rPr>
              <a:t>Stable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49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29265C-ECDE-7EE3-04E1-9D0CE3FB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4</a:t>
            </a:fld>
            <a:endParaRPr lang="en-US"/>
          </a:p>
        </p:txBody>
      </p:sp>
      <p:pic>
        <p:nvPicPr>
          <p:cNvPr id="9" name="圖片 8" descr="一張含有 螢幕擷取畫面, 文字 的圖片&#10;&#10;AI 產生的內容可能不正確。">
            <a:extLst>
              <a:ext uri="{FF2B5EF4-FFF2-40B4-BE49-F238E27FC236}">
                <a16:creationId xmlns:a16="http://schemas.microsoft.com/office/drawing/2014/main" id="{DB5B5E56-BBEF-22FE-F4D5-2A3E5F27F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B487DCB-866D-7C86-9A7F-B865E10A43A8}"/>
              </a:ext>
            </a:extLst>
          </p:cNvPr>
          <p:cNvSpPr txBox="1"/>
          <p:nvPr/>
        </p:nvSpPr>
        <p:spPr>
          <a:xfrm>
            <a:off x="6846068" y="2896022"/>
            <a:ext cx="2646878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00B0F0"/>
                </a:solidFill>
              </a:rPr>
              <a:t>拖動商品報價圖表</a:t>
            </a:r>
            <a:endParaRPr lang="en-US" altLang="zh-TW" sz="2400" dirty="0">
              <a:solidFill>
                <a:srgbClr val="00B0F0"/>
              </a:solidFill>
            </a:endParaRPr>
          </a:p>
          <a:p>
            <a:r>
              <a:rPr lang="zh-TW" altLang="en-US" sz="2400" dirty="0">
                <a:solidFill>
                  <a:srgbClr val="00B0F0"/>
                </a:solidFill>
              </a:rPr>
              <a:t>放在 視窗右側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30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A512A-C4BA-BE8E-5F38-595DB34C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5</a:t>
            </a:fld>
            <a:endParaRPr lang="en-US"/>
          </a:p>
        </p:txBody>
      </p:sp>
      <p:pic>
        <p:nvPicPr>
          <p:cNvPr id="6" name="圖片 5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8F47FD36-8E5F-A140-785C-D487B6541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79" y="0"/>
            <a:ext cx="5918421" cy="6858000"/>
          </a:xfrm>
          <a:prstGeom prst="rect">
            <a:avLst/>
          </a:prstGeom>
        </p:spPr>
      </p:pic>
      <p:pic>
        <p:nvPicPr>
          <p:cNvPr id="7" name="圖片 6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D94C9BA8-A57E-7555-7028-4ABE44A474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3769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AE7AB2D-BF12-D8FF-7C75-80B4EBBF10B4}"/>
              </a:ext>
            </a:extLst>
          </p:cNvPr>
          <p:cNvSpPr/>
          <p:nvPr/>
        </p:nvSpPr>
        <p:spPr>
          <a:xfrm>
            <a:off x="4405024" y="4810539"/>
            <a:ext cx="1632666" cy="26239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3CF84B-5A11-4077-E5CD-212A78256E01}"/>
              </a:ext>
            </a:extLst>
          </p:cNvPr>
          <p:cNvSpPr/>
          <p:nvPr/>
        </p:nvSpPr>
        <p:spPr>
          <a:xfrm>
            <a:off x="8994251" y="4738976"/>
            <a:ext cx="1787718" cy="22661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7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6CBC0D-225A-DF61-4EFA-0F6DF4D1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6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2AB0FB8-490E-97DC-F925-2548E9DB8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521C6F9-C191-CE42-A170-91CB5EA43A2E}"/>
              </a:ext>
            </a:extLst>
          </p:cNvPr>
          <p:cNvSpPr/>
          <p:nvPr/>
        </p:nvSpPr>
        <p:spPr>
          <a:xfrm>
            <a:off x="7896970" y="-1"/>
            <a:ext cx="4295030" cy="6858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1B26B3-3B03-7DBD-07E3-CD9D75479AA3}"/>
              </a:ext>
            </a:extLst>
          </p:cNvPr>
          <p:cNvSpPr/>
          <p:nvPr/>
        </p:nvSpPr>
        <p:spPr>
          <a:xfrm>
            <a:off x="98368" y="679572"/>
            <a:ext cx="7728668" cy="5955527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7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45F525-B26F-9896-8F0C-F78D9D1B4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7</a:t>
            </a:fld>
            <a:endParaRPr lang="en-US"/>
          </a:p>
        </p:txBody>
      </p:sp>
      <p:pic>
        <p:nvPicPr>
          <p:cNvPr id="6" name="圖片 5" descr="一張含有 螢幕擷取畫面, 圖表, 繪圖軟體, 文字 的圖片&#10;&#10;AI 產生的內容可能不正確。">
            <a:extLst>
              <a:ext uri="{FF2B5EF4-FFF2-40B4-BE49-F238E27FC236}">
                <a16:creationId xmlns:a16="http://schemas.microsoft.com/office/drawing/2014/main" id="{6E8F31EF-05C0-013D-0A4A-FB213B35A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B2B0044-51F4-9E19-3672-646F1D2F425A}"/>
              </a:ext>
            </a:extLst>
          </p:cNvPr>
          <p:cNvSpPr txBox="1"/>
          <p:nvPr/>
        </p:nvSpPr>
        <p:spPr>
          <a:xfrm>
            <a:off x="7828172" y="3600355"/>
            <a:ext cx="3903633" cy="16312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FF00"/>
                </a:solidFill>
              </a:rPr>
              <a:t>COMEX </a:t>
            </a:r>
            <a:r>
              <a:rPr lang="zh-TW" altLang="en-US" sz="2000" dirty="0">
                <a:solidFill>
                  <a:srgbClr val="FFFF00"/>
                </a:solidFill>
              </a:rPr>
              <a:t>開盤價</a:t>
            </a:r>
            <a:r>
              <a:rPr lang="en-US" altLang="zh-TW" sz="2000" dirty="0">
                <a:solidFill>
                  <a:srgbClr val="FFFF00"/>
                </a:solidFill>
              </a:rPr>
              <a:t>4262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altLang="zh-TW" sz="2000" dirty="0">
                <a:solidFill>
                  <a:srgbClr val="FFFF00"/>
                </a:solidFill>
              </a:rPr>
              <a:t>GC</a:t>
            </a:r>
            <a:r>
              <a:rPr lang="zh-TW" altLang="en-US" sz="2000" dirty="0">
                <a:solidFill>
                  <a:srgbClr val="FFFF00"/>
                </a:solidFill>
              </a:rPr>
              <a:t>期貨價格 </a:t>
            </a:r>
            <a:r>
              <a:rPr lang="en-US" altLang="zh-TW" sz="2000" dirty="0">
                <a:solidFill>
                  <a:srgbClr val="FFFF00"/>
                </a:solidFill>
              </a:rPr>
              <a:t>&gt;</a:t>
            </a:r>
            <a:r>
              <a:rPr lang="zh-TW" altLang="en-US" sz="2000" dirty="0">
                <a:solidFill>
                  <a:srgbClr val="FFFF00"/>
                </a:solidFill>
              </a:rPr>
              <a:t> </a:t>
            </a:r>
            <a:r>
              <a:rPr lang="en-US" altLang="zh-TW" sz="2000" dirty="0">
                <a:solidFill>
                  <a:srgbClr val="FFFF00"/>
                </a:solidFill>
              </a:rPr>
              <a:t>XAU</a:t>
            </a:r>
            <a:r>
              <a:rPr lang="zh-TW" altLang="en-US" sz="2000" dirty="0">
                <a:solidFill>
                  <a:srgbClr val="FFFF00"/>
                </a:solidFill>
              </a:rPr>
              <a:t>現貨價格</a:t>
            </a:r>
            <a:endParaRPr lang="en-US" altLang="zh-TW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4262-4228=34 (</a:t>
            </a:r>
            <a:r>
              <a:rPr lang="zh-TW" altLang="en-US" sz="2000" dirty="0">
                <a:solidFill>
                  <a:srgbClr val="FFFF00"/>
                </a:solidFill>
              </a:rPr>
              <a:t>盤中幅度不固定</a:t>
            </a:r>
            <a:r>
              <a:rPr lang="en-US" sz="2000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7E2AD1-D01F-1731-DC3C-79EDBD6EE56A}"/>
              </a:ext>
            </a:extLst>
          </p:cNvPr>
          <p:cNvSpPr/>
          <p:nvPr/>
        </p:nvSpPr>
        <p:spPr>
          <a:xfrm>
            <a:off x="98368" y="0"/>
            <a:ext cx="5260811" cy="5955527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82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054A-3EC5-2946-B2C0-FA67B29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8</a:t>
            </a:fld>
            <a:endParaRPr lang="en-US"/>
          </a:p>
        </p:txBody>
      </p:sp>
      <p:pic>
        <p:nvPicPr>
          <p:cNvPr id="6" name="圖片 5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B8366246-CCB4-3A98-DD5A-BD3E321F5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36257" cy="6858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452816C-CCFB-F5B2-400C-5D45F8EA7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819" y="0"/>
            <a:ext cx="6284181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90339FC-8124-F53C-F1EE-1E8E4B42499A}"/>
              </a:ext>
            </a:extLst>
          </p:cNvPr>
          <p:cNvSpPr txBox="1"/>
          <p:nvPr/>
        </p:nvSpPr>
        <p:spPr>
          <a:xfrm>
            <a:off x="1423283" y="765072"/>
            <a:ext cx="3647152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Liquidity Wall</a:t>
            </a:r>
            <a:r>
              <a:rPr lang="zh-TW" altLang="en-US" dirty="0">
                <a:solidFill>
                  <a:srgbClr val="FFFF00"/>
                </a:solidFill>
              </a:rPr>
              <a:t>流動性牆 </a:t>
            </a:r>
            <a:r>
              <a:rPr lang="en-US" altLang="zh-TW" dirty="0">
                <a:solidFill>
                  <a:srgbClr val="FFFF00"/>
                </a:solidFill>
              </a:rPr>
              <a:t>4250</a:t>
            </a:r>
          </a:p>
          <a:p>
            <a:r>
              <a:rPr lang="en-US" altLang="zh-TW" dirty="0" err="1">
                <a:solidFill>
                  <a:srgbClr val="FFFF00"/>
                </a:solidFill>
              </a:rPr>
              <a:t>BigTrades</a:t>
            </a:r>
            <a:r>
              <a:rPr lang="en-US" altLang="zh-TW" dirty="0">
                <a:solidFill>
                  <a:srgbClr val="FFFF00"/>
                </a:solidFill>
              </a:rPr>
              <a:t> </a:t>
            </a:r>
            <a:r>
              <a:rPr lang="zh-TW" altLang="en-US" dirty="0">
                <a:solidFill>
                  <a:srgbClr val="FFFF00"/>
                </a:solidFill>
              </a:rPr>
              <a:t>紅圈 </a:t>
            </a:r>
            <a:r>
              <a:rPr lang="en-US" altLang="zh-TW" dirty="0">
                <a:solidFill>
                  <a:srgbClr val="FFFF00"/>
                </a:solidFill>
              </a:rPr>
              <a:t>4245 </a:t>
            </a:r>
          </a:p>
          <a:p>
            <a:r>
              <a:rPr lang="en-US" altLang="zh-TW" dirty="0">
                <a:solidFill>
                  <a:srgbClr val="FFFF00"/>
                </a:solidFill>
              </a:rPr>
              <a:t>	</a:t>
            </a:r>
            <a:r>
              <a:rPr lang="zh-TW" altLang="en-US" dirty="0">
                <a:solidFill>
                  <a:srgbClr val="FFFF00"/>
                </a:solidFill>
              </a:rPr>
              <a:t>上方</a:t>
            </a:r>
            <a:r>
              <a:rPr lang="en-US" altLang="zh-TW" dirty="0">
                <a:solidFill>
                  <a:srgbClr val="FFFF00"/>
                </a:solidFill>
              </a:rPr>
              <a:t>5</a:t>
            </a:r>
            <a:r>
              <a:rPr lang="zh-TW" altLang="en-US" dirty="0">
                <a:solidFill>
                  <a:srgbClr val="FFFF00"/>
                </a:solidFill>
              </a:rPr>
              <a:t>美金 </a:t>
            </a:r>
            <a:r>
              <a:rPr lang="en-US" altLang="zh-TW" dirty="0">
                <a:solidFill>
                  <a:srgbClr val="FFFF00"/>
                </a:solidFill>
              </a:rPr>
              <a:t>GMT +0 </a:t>
            </a:r>
            <a:r>
              <a:rPr lang="zh-TW" altLang="en-US" dirty="0">
                <a:solidFill>
                  <a:srgbClr val="FFFF00"/>
                </a:solidFill>
              </a:rPr>
              <a:t>時間</a:t>
            </a:r>
            <a:r>
              <a:rPr lang="en-US" altLang="zh-TW" dirty="0">
                <a:solidFill>
                  <a:srgbClr val="FFFF00"/>
                </a:solidFill>
              </a:rPr>
              <a:t>13:02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260CDD2-AEC3-B692-C983-D698431A962E}"/>
              </a:ext>
            </a:extLst>
          </p:cNvPr>
          <p:cNvSpPr txBox="1"/>
          <p:nvPr/>
        </p:nvSpPr>
        <p:spPr>
          <a:xfrm>
            <a:off x="7196169" y="175385"/>
            <a:ext cx="445506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FF00"/>
                </a:solidFill>
              </a:rPr>
              <a:t>MT5 GMT+2</a:t>
            </a:r>
          </a:p>
          <a:p>
            <a:r>
              <a:rPr lang="en-US" dirty="0">
                <a:solidFill>
                  <a:srgbClr val="FFFF00"/>
                </a:solidFill>
              </a:rPr>
              <a:t>15:02 </a:t>
            </a:r>
            <a:r>
              <a:rPr lang="zh-TW" altLang="en-US" dirty="0">
                <a:solidFill>
                  <a:srgbClr val="FFFF00"/>
                </a:solidFill>
              </a:rPr>
              <a:t>開盤價 約略對應</a:t>
            </a:r>
            <a:r>
              <a:rPr lang="en-US" altLang="zh-TW" dirty="0">
                <a:solidFill>
                  <a:srgbClr val="FFFF00"/>
                </a:solidFill>
              </a:rPr>
              <a:t>4227.85=</a:t>
            </a:r>
            <a:r>
              <a:rPr lang="zh-TW" altLang="en-US" dirty="0">
                <a:solidFill>
                  <a:srgbClr val="FFFF00"/>
                </a:solidFill>
              </a:rPr>
              <a:t>流動性牆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8951B9E-27DF-1A37-8B5F-02E6F8B19CBE}"/>
              </a:ext>
            </a:extLst>
          </p:cNvPr>
          <p:cNvCxnSpPr/>
          <p:nvPr/>
        </p:nvCxnSpPr>
        <p:spPr>
          <a:xfrm flipH="1">
            <a:off x="2504661" y="1311965"/>
            <a:ext cx="413467" cy="22740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14924DB-58B7-E796-E372-17513681B751}"/>
              </a:ext>
            </a:extLst>
          </p:cNvPr>
          <p:cNvSpPr txBox="1"/>
          <p:nvPr/>
        </p:nvSpPr>
        <p:spPr>
          <a:xfrm>
            <a:off x="907774" y="5010572"/>
            <a:ext cx="2185215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FF00"/>
                </a:solidFill>
              </a:rPr>
              <a:t>顏色越</a:t>
            </a:r>
            <a:r>
              <a:rPr lang="zh-TW" altLang="en-US" b="1" dirty="0">
                <a:solidFill>
                  <a:srgbClr val="FFFF00"/>
                </a:solidFill>
              </a:rPr>
              <a:t>亮</a:t>
            </a:r>
            <a:r>
              <a:rPr lang="zh-TW" altLang="en-US" dirty="0">
                <a:solidFill>
                  <a:srgbClr val="FFFF00"/>
                </a:solidFill>
              </a:rPr>
              <a:t> 掛單越</a:t>
            </a:r>
            <a:r>
              <a:rPr lang="zh-TW" altLang="en-US" b="1" dirty="0">
                <a:solidFill>
                  <a:srgbClr val="FFFF00"/>
                </a:solidFill>
              </a:rPr>
              <a:t>多</a:t>
            </a:r>
            <a:endParaRPr lang="en-US" altLang="zh-TW" b="1" dirty="0">
              <a:solidFill>
                <a:srgbClr val="FFFF00"/>
              </a:solidFill>
            </a:endParaRPr>
          </a:p>
          <a:p>
            <a:pPr algn="ctr"/>
            <a:endParaRPr lang="en-US" altLang="zh-TW" dirty="0">
              <a:solidFill>
                <a:srgbClr val="FFFF00"/>
              </a:solidFill>
            </a:endParaRPr>
          </a:p>
          <a:p>
            <a:pPr algn="ctr"/>
            <a:r>
              <a:rPr lang="zh-TW" altLang="en-US" sz="2400" dirty="0">
                <a:solidFill>
                  <a:srgbClr val="FFFF00"/>
                </a:solidFill>
              </a:rPr>
              <a:t>藍 </a:t>
            </a:r>
            <a:r>
              <a:rPr lang="zh-TW" altLang="en-US" sz="2800" dirty="0">
                <a:solidFill>
                  <a:srgbClr val="FFFF00"/>
                </a:solidFill>
              </a:rPr>
              <a:t>黃</a:t>
            </a:r>
            <a:r>
              <a:rPr lang="zh-TW" altLang="en-US" sz="2400" dirty="0">
                <a:solidFill>
                  <a:srgbClr val="FFFF00"/>
                </a:solidFill>
              </a:rPr>
              <a:t> </a:t>
            </a:r>
            <a:r>
              <a:rPr lang="zh-TW" altLang="en-US" sz="3200" dirty="0">
                <a:solidFill>
                  <a:srgbClr val="FFFF00"/>
                </a:solidFill>
              </a:rPr>
              <a:t>橘</a:t>
            </a:r>
            <a:r>
              <a:rPr lang="zh-TW" altLang="en-US" sz="2400" dirty="0">
                <a:solidFill>
                  <a:srgbClr val="FFFF00"/>
                </a:solidFill>
              </a:rPr>
              <a:t> </a:t>
            </a:r>
            <a:r>
              <a:rPr lang="zh-TW" altLang="en-US" sz="3600" dirty="0">
                <a:solidFill>
                  <a:srgbClr val="FFFF00"/>
                </a:solidFill>
              </a:rPr>
              <a:t>白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0A211BF-D374-35E3-1D47-DF034F4E351F}"/>
              </a:ext>
            </a:extLst>
          </p:cNvPr>
          <p:cNvSpPr txBox="1"/>
          <p:nvPr/>
        </p:nvSpPr>
        <p:spPr>
          <a:xfrm>
            <a:off x="575144" y="3901808"/>
            <a:ext cx="15696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&gt;200</a:t>
            </a:r>
            <a:r>
              <a:rPr lang="zh-TW" altLang="en-US" sz="2400" dirty="0">
                <a:solidFill>
                  <a:srgbClr val="FFFF00"/>
                </a:solidFill>
              </a:rPr>
              <a:t> </a:t>
            </a:r>
            <a:r>
              <a:rPr lang="en-US" altLang="zh-TW" sz="2400" dirty="0">
                <a:solidFill>
                  <a:srgbClr val="FFFF00"/>
                </a:solidFill>
              </a:rPr>
              <a:t>Lots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659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E27497-2590-7641-39B9-D70A6E79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9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01ED35-FBFC-276C-5CDC-99A3BD28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53373" cy="6858000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2B7B842-5F73-5BAB-190C-32791E7A6F80}"/>
              </a:ext>
            </a:extLst>
          </p:cNvPr>
          <p:cNvCxnSpPr/>
          <p:nvPr/>
        </p:nvCxnSpPr>
        <p:spPr>
          <a:xfrm>
            <a:off x="5478451" y="1576106"/>
            <a:ext cx="0" cy="1630018"/>
          </a:xfrm>
          <a:prstGeom prst="straightConnector1">
            <a:avLst/>
          </a:prstGeom>
          <a:ln w="3810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03CCA7BF-E2E6-AA2F-A1A8-CCC5F9AF4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890" y="0"/>
            <a:ext cx="6459110" cy="685800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BCE7358-B1FF-E327-D0AF-15620153732F}"/>
              </a:ext>
            </a:extLst>
          </p:cNvPr>
          <p:cNvSpPr txBox="1"/>
          <p:nvPr/>
        </p:nvSpPr>
        <p:spPr>
          <a:xfrm>
            <a:off x="5971425" y="1512495"/>
            <a:ext cx="203132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FF00"/>
                </a:solidFill>
              </a:rPr>
              <a:t>縮放 顏色</a:t>
            </a:r>
            <a:r>
              <a:rPr lang="en-US" altLang="zh-TW" sz="2400" dirty="0">
                <a:solidFill>
                  <a:srgbClr val="FFFF00"/>
                </a:solidFill>
              </a:rPr>
              <a:t>bug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CAF0A22-62E8-50B5-5E86-E26F85051B7C}"/>
              </a:ext>
            </a:extLst>
          </p:cNvPr>
          <p:cNvSpPr txBox="1"/>
          <p:nvPr/>
        </p:nvSpPr>
        <p:spPr>
          <a:xfrm>
            <a:off x="9755976" y="179681"/>
            <a:ext cx="203132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4256-4237=19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066C214-9115-1A9C-E6F4-3E455091BBAE}"/>
              </a:ext>
            </a:extLst>
          </p:cNvPr>
          <p:cNvSpPr txBox="1"/>
          <p:nvPr/>
        </p:nvSpPr>
        <p:spPr>
          <a:xfrm>
            <a:off x="3213378" y="277117"/>
            <a:ext cx="203132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4252-4241=11</a:t>
            </a:r>
            <a:endParaRPr lang="en-US" sz="2400" dirty="0">
              <a:solidFill>
                <a:srgbClr val="FFFF00"/>
              </a:solidFill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B311EFA-65A6-3DC3-2285-DCE7050A33F9}"/>
              </a:ext>
            </a:extLst>
          </p:cNvPr>
          <p:cNvCxnSpPr/>
          <p:nvPr/>
        </p:nvCxnSpPr>
        <p:spPr>
          <a:xfrm>
            <a:off x="5351231" y="362807"/>
            <a:ext cx="23853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8E17EA6-03B4-7A80-CE76-B52997DBD639}"/>
              </a:ext>
            </a:extLst>
          </p:cNvPr>
          <p:cNvCxnSpPr/>
          <p:nvPr/>
        </p:nvCxnSpPr>
        <p:spPr>
          <a:xfrm>
            <a:off x="5351231" y="6232195"/>
            <a:ext cx="23853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F5A47CE-1034-8D97-E1F5-C5C1CA6D3507}"/>
              </a:ext>
            </a:extLst>
          </p:cNvPr>
          <p:cNvCxnSpPr/>
          <p:nvPr/>
        </p:nvCxnSpPr>
        <p:spPr>
          <a:xfrm>
            <a:off x="11872626" y="369131"/>
            <a:ext cx="23853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F3836D2-BE06-3A46-8216-52E17C28D8BD}"/>
              </a:ext>
            </a:extLst>
          </p:cNvPr>
          <p:cNvCxnSpPr/>
          <p:nvPr/>
        </p:nvCxnSpPr>
        <p:spPr>
          <a:xfrm>
            <a:off x="11872626" y="6311708"/>
            <a:ext cx="23853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359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22B911-C83E-D169-AAD7-52D10F4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0637307-6BD3-8D00-89D8-D41BF7327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115785E-A7EE-2F11-C0E1-4DAFC31A78CC}"/>
              </a:ext>
            </a:extLst>
          </p:cNvPr>
          <p:cNvSpPr txBox="1"/>
          <p:nvPr/>
        </p:nvSpPr>
        <p:spPr>
          <a:xfrm>
            <a:off x="1232448" y="3738860"/>
            <a:ext cx="218521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FF00"/>
                </a:solidFill>
              </a:rPr>
              <a:t>舊 手工趨勢線</a:t>
            </a:r>
            <a:endParaRPr lang="en-US" sz="2400" dirty="0">
              <a:solidFill>
                <a:srgbClr val="FFFF00"/>
              </a:solidFill>
            </a:endParaRPr>
          </a:p>
        </p:txBody>
      </p:sp>
      <p:pic>
        <p:nvPicPr>
          <p:cNvPr id="9" name="圖片 8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BE678E6E-6B29-39EE-6BC7-DF5596E23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805" y="3231346"/>
            <a:ext cx="4544059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7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7AE485-DCA2-05F1-6283-3F216712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11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FB8C33-C2C8-9BCB-5884-D74A589C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A592F00-6286-EC75-3247-00DF1EEBBBE4}"/>
              </a:ext>
            </a:extLst>
          </p:cNvPr>
          <p:cNvSpPr txBox="1"/>
          <p:nvPr/>
        </p:nvSpPr>
        <p:spPr>
          <a:xfrm>
            <a:off x="8020548" y="3371037"/>
            <a:ext cx="341632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FF00"/>
                </a:solidFill>
              </a:rPr>
              <a:t>掛單的量 盤中隨時改變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3FBBF1-9CAD-2EFD-A3A7-0173D5039F56}"/>
              </a:ext>
            </a:extLst>
          </p:cNvPr>
          <p:cNvSpPr/>
          <p:nvPr/>
        </p:nvSpPr>
        <p:spPr>
          <a:xfrm>
            <a:off x="10271009" y="2401136"/>
            <a:ext cx="1920991" cy="26255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800F99-2EFB-C4EE-1878-D4FFD8E9982F}"/>
              </a:ext>
            </a:extLst>
          </p:cNvPr>
          <p:cNvSpPr txBox="1"/>
          <p:nvPr/>
        </p:nvSpPr>
        <p:spPr>
          <a:xfrm>
            <a:off x="2448997" y="2432854"/>
            <a:ext cx="15696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V-WAP</a:t>
            </a:r>
            <a:r>
              <a:rPr lang="zh-TW" altLang="en-US" sz="2400" dirty="0">
                <a:solidFill>
                  <a:srgbClr val="FFFF00"/>
                </a:solidFill>
              </a:rPr>
              <a:t>均線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07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7E3F24-6160-D03F-1A0B-26805BD7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12</a:t>
            </a:fld>
            <a:endParaRPr lang="en-US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14241AA1-02FC-9EC1-0243-066CF747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7FF760F-731A-A3B2-54D1-B1F8052936CC}"/>
              </a:ext>
            </a:extLst>
          </p:cNvPr>
          <p:cNvSpPr/>
          <p:nvPr/>
        </p:nvSpPr>
        <p:spPr>
          <a:xfrm>
            <a:off x="6456459" y="5979381"/>
            <a:ext cx="1733384" cy="29419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8AEBDBF-7506-CCE1-AC16-88D62776AEFB}"/>
              </a:ext>
            </a:extLst>
          </p:cNvPr>
          <p:cNvSpPr txBox="1"/>
          <p:nvPr/>
        </p:nvSpPr>
        <p:spPr>
          <a:xfrm>
            <a:off x="6512118" y="5394960"/>
            <a:ext cx="433965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141 146 130 </a:t>
            </a:r>
            <a:r>
              <a:rPr lang="zh-TW" altLang="en-US" sz="2400" dirty="0">
                <a:solidFill>
                  <a:srgbClr val="FFFF00"/>
                </a:solidFill>
              </a:rPr>
              <a:t>底色越亮 量越大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997E7B-859A-ECE0-FCD5-6D1DC9507BEC}"/>
              </a:ext>
            </a:extLst>
          </p:cNvPr>
          <p:cNvSpPr txBox="1"/>
          <p:nvPr/>
        </p:nvSpPr>
        <p:spPr>
          <a:xfrm>
            <a:off x="1284573" y="5148384"/>
            <a:ext cx="2031325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Delta</a:t>
            </a:r>
            <a:r>
              <a:rPr lang="zh-TW" altLang="en-US" sz="2400" dirty="0">
                <a:solidFill>
                  <a:srgbClr val="FFFF00"/>
                </a:solidFill>
              </a:rPr>
              <a:t>單根</a:t>
            </a:r>
            <a:r>
              <a:rPr lang="en-US" altLang="zh-TW" sz="2400" dirty="0">
                <a:solidFill>
                  <a:srgbClr val="FFFF00"/>
                </a:solidFill>
              </a:rPr>
              <a:t>K</a:t>
            </a:r>
            <a:r>
              <a:rPr lang="zh-TW" altLang="en-US" sz="2400" dirty="0">
                <a:solidFill>
                  <a:srgbClr val="FFFF00"/>
                </a:solidFill>
              </a:rPr>
              <a:t>棒</a:t>
            </a:r>
            <a:endParaRPr lang="en-US" altLang="zh-TW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Session</a:t>
            </a:r>
            <a:r>
              <a:rPr lang="zh-TW" altLang="en-US" sz="2400" dirty="0">
                <a:solidFill>
                  <a:srgbClr val="FFFF00"/>
                </a:solidFill>
              </a:rPr>
              <a:t>今日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BF0B38-1EC5-03DD-CA22-850FEFCEBFAC}"/>
              </a:ext>
            </a:extLst>
          </p:cNvPr>
          <p:cNvSpPr/>
          <p:nvPr/>
        </p:nvSpPr>
        <p:spPr>
          <a:xfrm>
            <a:off x="0" y="6042991"/>
            <a:ext cx="842838" cy="2286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F13AB0-1621-BDAD-E911-C67ED3486F98}"/>
              </a:ext>
            </a:extLst>
          </p:cNvPr>
          <p:cNvSpPr txBox="1"/>
          <p:nvPr/>
        </p:nvSpPr>
        <p:spPr>
          <a:xfrm>
            <a:off x="1075106" y="1219865"/>
            <a:ext cx="249299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Value Area High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1D12B88-214F-B3D4-B486-C21E555DE019}"/>
              </a:ext>
            </a:extLst>
          </p:cNvPr>
          <p:cNvSpPr txBox="1"/>
          <p:nvPr/>
        </p:nvSpPr>
        <p:spPr>
          <a:xfrm>
            <a:off x="1075106" y="3808100"/>
            <a:ext cx="233910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Value Area Low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839F51-0CF7-F6E7-3F48-471D8523F292}"/>
              </a:ext>
            </a:extLst>
          </p:cNvPr>
          <p:cNvSpPr txBox="1"/>
          <p:nvPr/>
        </p:nvSpPr>
        <p:spPr>
          <a:xfrm>
            <a:off x="1075106" y="3137958"/>
            <a:ext cx="587853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</a:rPr>
              <a:t>Point of Control </a:t>
            </a:r>
            <a:r>
              <a:rPr lang="zh-TW" altLang="en-US" sz="2400" dirty="0">
                <a:solidFill>
                  <a:srgbClr val="FFFF00"/>
                </a:solidFill>
              </a:rPr>
              <a:t>成交重心</a:t>
            </a:r>
            <a:r>
              <a:rPr lang="en-US" altLang="zh-TW" sz="2400" dirty="0">
                <a:solidFill>
                  <a:srgbClr val="FFFF00"/>
                </a:solidFill>
              </a:rPr>
              <a:t>(</a:t>
            </a:r>
            <a:r>
              <a:rPr lang="zh-TW" altLang="en-US" sz="2400" dirty="0">
                <a:solidFill>
                  <a:srgbClr val="FFFF00"/>
                </a:solidFill>
              </a:rPr>
              <a:t>價格常回測</a:t>
            </a:r>
            <a:r>
              <a:rPr lang="en-US" altLang="zh-TW" sz="2400" dirty="0">
                <a:solidFill>
                  <a:srgbClr val="FFFF00"/>
                </a:solidFill>
              </a:rPr>
              <a:t>)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82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7E3F24-6160-D03F-1A0B-26805BD7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13</a:t>
            </a:fld>
            <a:endParaRPr 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865ABBD-E0C0-A59A-B1BD-6C647AAB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F2270F0-E476-CB51-BE12-EC71E3B5F166}"/>
              </a:ext>
            </a:extLst>
          </p:cNvPr>
          <p:cNvSpPr/>
          <p:nvPr/>
        </p:nvSpPr>
        <p:spPr>
          <a:xfrm>
            <a:off x="10352540" y="811034"/>
            <a:ext cx="1839459" cy="1749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6886FB-326F-D9B1-369B-3BDB649EF0ED}"/>
              </a:ext>
            </a:extLst>
          </p:cNvPr>
          <p:cNvSpPr txBox="1"/>
          <p:nvPr/>
        </p:nvSpPr>
        <p:spPr>
          <a:xfrm>
            <a:off x="7442528" y="234099"/>
            <a:ext cx="2800767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FF00"/>
                </a:solidFill>
              </a:rPr>
              <a:t>高峰</a:t>
            </a:r>
            <a:endParaRPr lang="en-US" altLang="zh-TW" sz="2400" dirty="0">
              <a:solidFill>
                <a:srgbClr val="FFFF00"/>
              </a:solidFill>
            </a:endParaRPr>
          </a:p>
          <a:p>
            <a:r>
              <a:rPr lang="zh-TW" altLang="en-US" sz="2400" dirty="0">
                <a:solidFill>
                  <a:srgbClr val="FFFF00"/>
                </a:solidFill>
              </a:rPr>
              <a:t>大量掛單 上漲受限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C9871F-F668-450B-056B-E50BF5A676BA}"/>
              </a:ext>
            </a:extLst>
          </p:cNvPr>
          <p:cNvSpPr/>
          <p:nvPr/>
        </p:nvSpPr>
        <p:spPr>
          <a:xfrm>
            <a:off x="9972203" y="6562271"/>
            <a:ext cx="555324" cy="1749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C95AEF4-4D7F-28C3-AD42-B198A29A9BAB}"/>
              </a:ext>
            </a:extLst>
          </p:cNvPr>
          <p:cNvSpPr txBox="1"/>
          <p:nvPr/>
        </p:nvSpPr>
        <p:spPr>
          <a:xfrm>
            <a:off x="7442528" y="1377324"/>
            <a:ext cx="187743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4256-4252=4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05F43B8-DA4A-9C00-40E9-62127039E015}"/>
              </a:ext>
            </a:extLst>
          </p:cNvPr>
          <p:cNvSpPr txBox="1"/>
          <p:nvPr/>
        </p:nvSpPr>
        <p:spPr>
          <a:xfrm>
            <a:off x="10584618" y="6396335"/>
            <a:ext cx="95410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14:10</a:t>
            </a:r>
          </a:p>
        </p:txBody>
      </p:sp>
    </p:spTree>
    <p:extLst>
      <p:ext uri="{BB962C8B-B14F-4D97-AF65-F5344CB8AC3E}">
        <p14:creationId xmlns:p14="http://schemas.microsoft.com/office/powerpoint/2010/main" val="1364441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A78329-2913-E9CA-4D96-DC4B2F06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14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2968A3C-CE43-09F0-FE1F-C9C180EED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3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7E3F24-6160-D03F-1A0B-26805BD7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15</a:t>
            </a:fld>
            <a:endParaRPr lang="en-US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14241AA1-02FC-9EC1-0243-066CF747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7FF760F-731A-A3B2-54D1-B1F8052936CC}"/>
              </a:ext>
            </a:extLst>
          </p:cNvPr>
          <p:cNvSpPr/>
          <p:nvPr/>
        </p:nvSpPr>
        <p:spPr>
          <a:xfrm>
            <a:off x="6456459" y="7951"/>
            <a:ext cx="1733384" cy="6858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40518A-589A-4F59-7FFC-A0629DEB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16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395561-FE12-BCA5-A594-E6BAE2BAE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93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21F93-9BD4-0572-AA50-7620C56F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17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6522EAC-FD93-3EE2-12D5-4359509B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3E79403-EB46-5D29-B28A-D7F63001ACBD}"/>
              </a:ext>
            </a:extLst>
          </p:cNvPr>
          <p:cNvCxnSpPr/>
          <p:nvPr/>
        </p:nvCxnSpPr>
        <p:spPr>
          <a:xfrm>
            <a:off x="12038277" y="1480690"/>
            <a:ext cx="0" cy="1630018"/>
          </a:xfrm>
          <a:prstGeom prst="straightConnector1">
            <a:avLst/>
          </a:prstGeom>
          <a:ln w="3810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968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45C32B-B62F-368B-A770-B998CE4E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18</a:t>
            </a:fld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1B2EC1A-68F2-1C1B-0027-C83DF72A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5EE33F8-3771-5857-72BC-DCAA8517AD15}"/>
              </a:ext>
            </a:extLst>
          </p:cNvPr>
          <p:cNvSpPr/>
          <p:nvPr/>
        </p:nvSpPr>
        <p:spPr>
          <a:xfrm>
            <a:off x="0" y="1079318"/>
            <a:ext cx="1733384" cy="447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98FE46-188C-1E67-7F75-5CF09EF3D8F9}"/>
              </a:ext>
            </a:extLst>
          </p:cNvPr>
          <p:cNvSpPr/>
          <p:nvPr/>
        </p:nvSpPr>
        <p:spPr>
          <a:xfrm>
            <a:off x="2331057" y="3578087"/>
            <a:ext cx="571169" cy="20805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B85B2B-084F-C18D-33E1-13B77B602060}"/>
              </a:ext>
            </a:extLst>
          </p:cNvPr>
          <p:cNvSpPr/>
          <p:nvPr/>
        </p:nvSpPr>
        <p:spPr>
          <a:xfrm>
            <a:off x="6308034" y="3054626"/>
            <a:ext cx="571169" cy="20805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10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6C66D1-E0EA-EA85-3AC6-7C4C90D5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19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913A9B-B199-6CD0-A4B6-B8C02BCEE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B538764-06E8-D07C-F31C-0E903F018034}"/>
              </a:ext>
            </a:extLst>
          </p:cNvPr>
          <p:cNvSpPr txBox="1"/>
          <p:nvPr/>
        </p:nvSpPr>
        <p:spPr>
          <a:xfrm>
            <a:off x="3506632" y="295729"/>
            <a:ext cx="28520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FFFF00"/>
                </a:solidFill>
              </a:rPr>
              <a:t>內建 財經日曆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349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185F76-77AA-F86C-7006-DC54A31C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20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1F55DD-B9C5-7BAA-388D-C0F9DD0E6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圖片 7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75CB20EE-BBEB-BD75-FBE4-8E37F0B17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408" y="0"/>
            <a:ext cx="4887007" cy="2514951"/>
          </a:xfrm>
          <a:prstGeom prst="rect">
            <a:avLst/>
          </a:prstGeom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B7261A37-EB06-02CD-C912-055670826B8F}"/>
              </a:ext>
            </a:extLst>
          </p:cNvPr>
          <p:cNvSpPr/>
          <p:nvPr/>
        </p:nvSpPr>
        <p:spPr>
          <a:xfrm>
            <a:off x="1392902" y="484114"/>
            <a:ext cx="1327868" cy="91440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</a:rPr>
              <a:t>推移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877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682187-2B89-92EC-9FEB-B9C4BB83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21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CDB982-79AE-EB04-04FF-FCFBB9A21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DAA0F454-B013-69C8-71D7-1B0F0CCC23B0}"/>
              </a:ext>
            </a:extLst>
          </p:cNvPr>
          <p:cNvSpPr/>
          <p:nvPr/>
        </p:nvSpPr>
        <p:spPr>
          <a:xfrm>
            <a:off x="1408577" y="945360"/>
            <a:ext cx="1327868" cy="91440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</a:rPr>
              <a:t>推移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549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39E2A1-70D5-ED7C-FECA-4582E7B0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22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99E2B3E-38FA-1157-2465-82723521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1277" y="0"/>
            <a:ext cx="7177614" cy="6858000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A97CCA61-61E3-150C-120C-F1C37526481A}"/>
              </a:ext>
            </a:extLst>
          </p:cNvPr>
          <p:cNvSpPr/>
          <p:nvPr/>
        </p:nvSpPr>
        <p:spPr>
          <a:xfrm>
            <a:off x="844739" y="5088412"/>
            <a:ext cx="1327868" cy="91440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</a:rPr>
              <a:t>推移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FF4AF0A-FAFE-D060-B489-4A20DB83C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939" y="0"/>
            <a:ext cx="5591061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E0C3D7DC-4E17-4865-A49D-09259B47ABBC}"/>
              </a:ext>
            </a:extLst>
          </p:cNvPr>
          <p:cNvSpPr txBox="1"/>
          <p:nvPr/>
        </p:nvSpPr>
        <p:spPr>
          <a:xfrm>
            <a:off x="-523203" y="2148805"/>
            <a:ext cx="28520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FFFF00"/>
                </a:solidFill>
              </a:rPr>
              <a:t>若是</a:t>
            </a:r>
            <a:r>
              <a:rPr lang="en-US" altLang="zh-TW" sz="3200" dirty="0">
                <a:solidFill>
                  <a:srgbClr val="FFFF00"/>
                </a:solidFill>
              </a:rPr>
              <a:t>61.8%</a:t>
            </a:r>
            <a:r>
              <a:rPr lang="zh-TW" altLang="en-US" sz="3200" dirty="0">
                <a:solidFill>
                  <a:srgbClr val="FFFF00"/>
                </a:solidFill>
              </a:rPr>
              <a:t>回測</a:t>
            </a:r>
            <a:endParaRPr lang="en-US" sz="3200" dirty="0">
              <a:solidFill>
                <a:srgbClr val="FFFF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6694CB-7C67-A89F-35C1-DC2981836B76}"/>
              </a:ext>
            </a:extLst>
          </p:cNvPr>
          <p:cNvSpPr txBox="1"/>
          <p:nvPr/>
        </p:nvSpPr>
        <p:spPr>
          <a:xfrm>
            <a:off x="5683755" y="2597384"/>
            <a:ext cx="244169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FFFF00"/>
                </a:solidFill>
              </a:rPr>
              <a:t>若是</a:t>
            </a:r>
            <a:r>
              <a:rPr lang="en-US" altLang="zh-TW" sz="3200" dirty="0">
                <a:solidFill>
                  <a:srgbClr val="FFFF00"/>
                </a:solidFill>
              </a:rPr>
              <a:t>50%</a:t>
            </a:r>
            <a:r>
              <a:rPr lang="zh-TW" altLang="en-US" sz="3200" dirty="0">
                <a:solidFill>
                  <a:srgbClr val="FFFF00"/>
                </a:solidFill>
              </a:rPr>
              <a:t>回測</a:t>
            </a:r>
            <a:endParaRPr lang="en-US" sz="3200" dirty="0">
              <a:solidFill>
                <a:srgbClr val="FFFF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66A6C57-2C4C-3800-B1EB-9801F5FEDB55}"/>
              </a:ext>
            </a:extLst>
          </p:cNvPr>
          <p:cNvSpPr txBox="1"/>
          <p:nvPr/>
        </p:nvSpPr>
        <p:spPr>
          <a:xfrm>
            <a:off x="10029909" y="1063416"/>
            <a:ext cx="100540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FF00"/>
                </a:solidFill>
              </a:rPr>
              <a:t>4306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366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B4A568-C838-2006-6EAA-E25624A9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23</a:t>
            </a:fld>
            <a:endParaRPr lang="en-US"/>
          </a:p>
        </p:txBody>
      </p:sp>
      <p:pic>
        <p:nvPicPr>
          <p:cNvPr id="3" name="圖片 2" descr="一張含有 螢幕擷取畫面, 文字, 繪圖軟體, 多媒體軟體 的圖片&#10;&#10;AI 產生的內容可能不正確。">
            <a:extLst>
              <a:ext uri="{FF2B5EF4-FFF2-40B4-BE49-F238E27FC236}">
                <a16:creationId xmlns:a16="http://schemas.microsoft.com/office/drawing/2014/main" id="{379AC1DC-7030-9324-1E95-BBB823A8F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E5365D8-2E9C-66F8-9684-69FBA1E4938E}"/>
              </a:ext>
            </a:extLst>
          </p:cNvPr>
          <p:cNvSpPr/>
          <p:nvPr/>
        </p:nvSpPr>
        <p:spPr>
          <a:xfrm>
            <a:off x="818985" y="6019136"/>
            <a:ext cx="604298" cy="83886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6E9A914-7D84-B3D9-E1B8-D86F71EE6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95" y="586314"/>
            <a:ext cx="10880723" cy="484650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48EAC63-FDBB-4642-D0A4-F6EBC7995FEB}"/>
              </a:ext>
            </a:extLst>
          </p:cNvPr>
          <p:cNvSpPr txBox="1"/>
          <p:nvPr/>
        </p:nvSpPr>
        <p:spPr>
          <a:xfrm>
            <a:off x="2062702" y="5349169"/>
            <a:ext cx="1620957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FF00"/>
                </a:solidFill>
              </a:rPr>
              <a:t>M5 &gt;300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162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364FFB-5DE5-4C1C-26B4-0ABB8ABD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31" y="1063416"/>
            <a:ext cx="6781138" cy="5385274"/>
          </a:xfrm>
        </p:spPr>
        <p:txBody>
          <a:bodyPr/>
          <a:lstStyle/>
          <a:p>
            <a:pPr algn="ctr"/>
            <a:r>
              <a:rPr lang="en-US" altLang="zh-TW" sz="5400" dirty="0">
                <a:solidFill>
                  <a:srgbClr val="FFC000"/>
                </a:solidFill>
              </a:rPr>
              <a:t>Price Discovery</a:t>
            </a:r>
            <a:br>
              <a:rPr lang="en-US" altLang="zh-TW" sz="5400" dirty="0">
                <a:solidFill>
                  <a:srgbClr val="FFFF00"/>
                </a:solidFill>
              </a:rPr>
            </a:br>
            <a:br>
              <a:rPr lang="en-US" altLang="zh-TW" sz="5400" dirty="0">
                <a:solidFill>
                  <a:srgbClr val="FFFF00"/>
                </a:solidFill>
              </a:rPr>
            </a:br>
            <a:r>
              <a:rPr lang="en-US" altLang="zh-TW" sz="5400" dirty="0">
                <a:solidFill>
                  <a:srgbClr val="FFFF00"/>
                </a:solidFill>
              </a:rPr>
              <a:t>Better Entry</a:t>
            </a:r>
            <a:br>
              <a:rPr lang="en-US" altLang="zh-TW" sz="5400" dirty="0">
                <a:solidFill>
                  <a:srgbClr val="FFFF00"/>
                </a:solidFill>
              </a:rPr>
            </a:br>
            <a:br>
              <a:rPr lang="en-US" altLang="zh-TW" sz="5400">
                <a:solidFill>
                  <a:srgbClr val="FFFF00"/>
                </a:solidFill>
              </a:rPr>
            </a:br>
            <a:r>
              <a:rPr lang="en-US" altLang="zh-TW" sz="5400">
                <a:solidFill>
                  <a:srgbClr val="FFFF00"/>
                </a:solidFill>
              </a:rPr>
              <a:t>Better </a:t>
            </a:r>
            <a:r>
              <a:rPr lang="en-US" altLang="zh-TW" sz="5400" dirty="0">
                <a:solidFill>
                  <a:srgbClr val="FFFF00"/>
                </a:solidFill>
              </a:rPr>
              <a:t>Exit</a:t>
            </a:r>
            <a:endParaRPr lang="en-US" sz="5400" dirty="0">
              <a:solidFill>
                <a:srgbClr val="FFFF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F95630-6636-1B7C-D30D-F66CF0CE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404C-1BFF-4D0E-818D-D25D223DB27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196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自訂 1">
      <a:majorFont>
        <a:latin typeface="DFKai-SB"/>
        <a:ea typeface="DFKai-SB"/>
        <a:cs typeface=""/>
      </a:majorFont>
      <a:minorFont>
        <a:latin typeface="DFKai-SB"/>
        <a:ea typeface="DFKai-SB"/>
        <a:cs typeface="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226</TotalTime>
  <Words>211</Words>
  <Application>Microsoft Office PowerPoint</Application>
  <PresentationFormat>寬螢幕</PresentationFormat>
  <Paragraphs>74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8" baseType="lpstr">
      <vt:lpstr>DFKai-SB</vt:lpstr>
      <vt:lpstr>Aptos</vt:lpstr>
      <vt:lpstr>Wingdings 3</vt:lpstr>
      <vt:lpstr>離子</vt:lpstr>
      <vt:lpstr>黃金 訂單流分析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Price Discovery  Better Entry  Better Exit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haowei</dc:creator>
  <cp:lastModifiedBy>haowei</cp:lastModifiedBy>
  <cp:revision>64</cp:revision>
  <dcterms:created xsi:type="dcterms:W3CDTF">2025-12-10T07:42:05Z</dcterms:created>
  <dcterms:modified xsi:type="dcterms:W3CDTF">2025-12-13T05:46:11Z</dcterms:modified>
</cp:coreProperties>
</file>